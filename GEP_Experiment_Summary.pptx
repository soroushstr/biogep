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Cross-Species Gene Essentiality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DD7EE"/>
                </a:solidFill>
              </a:rPr>
              <a:t>Using k-mer Graph Neural Networks with Domain Adaptation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BDD7EE"/>
                </a:solidFill>
              </a:rPr>
              <a:t>Full Experiment History &amp; Results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63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8 Species  ·  LOO Evaluation  ·  v5 → v10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Project Overview</a:t>
            </a:r>
          </a:p>
          <a:p>
            <a:pPr algn="l"/>
            <a:r>
              <a:rPr sz="1400" b="0">
                <a:solidFill>
                  <a:srgbClr val="BDD7EE"/>
                </a:solidFill>
              </a:rPr>
              <a:t>What are we trying to do?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</a:rPr>
              <a:t>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Build a GNN that predicts gene essentiality and transfers across species — train on 7 species, predict the 8th (Leave-One-Out).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</a:rPr>
              <a:t>8 Species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97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</a:rPr>
              <a:t>Arabidopsis  ·  Bacillus  ·  C. elegans  ·  Maripaludis  ·  Melanogaster  ·  Musculus  ·  Saccharomyces  ·  Sapiens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</a:rPr>
              <a:t>Architecture (fixed throughout)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0332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75B6"/>
                </a:solidFill>
              </a:rPr>
              <a:t>• GIN × 4 layers  |  hidden_dim = 256  |  k = 4 k-mer node features</a:t>
            </a:r>
          </a:p>
          <a:p>
            <a:pPr algn="l"/>
            <a:r>
              <a:rPr sz="1400" b="0">
                <a:solidFill>
                  <a:srgbClr val="2E75B6"/>
                </a:solidFill>
              </a:rPr>
              <a:t>• Gradient Reversal Layer (GRL) for domain adaptation</a:t>
            </a:r>
          </a:p>
          <a:p>
            <a:pPr algn="l"/>
            <a:r>
              <a:rPr sz="1400" b="0">
                <a:solidFill>
                  <a:srgbClr val="2E75B6"/>
                </a:solidFill>
              </a:rPr>
              <a:t>• Focal loss (γ=2)  |  Bayesian prior correction  |  lr = 3×10⁻⁴</a:t>
            </a:r>
          </a:p>
          <a:p>
            <a:pPr algn="l"/>
            <a:r>
              <a:rPr sz="1400" b="0">
                <a:solidFill>
                  <a:srgbClr val="2E75B6"/>
                </a:solidFill>
              </a:rPr>
              <a:t>• Within-species sanity check (elegans → elegans): MCC = 0.87 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394960"/>
            <a:ext cx="1554480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5486400"/>
            <a:ext cx="1463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1
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5394960"/>
            <a:ext cx="155448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79" y="5486400"/>
            <a:ext cx="1463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2
v7/v8
Proxy-val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599" y="5394960"/>
            <a:ext cx="1554480" cy="11887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5486400"/>
            <a:ext cx="1463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3
Diagnosis
Proxy-val bug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49240" y="5394960"/>
            <a:ext cx="1554480" cy="118872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59" y="5486400"/>
            <a:ext cx="1463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4
v9
LOO-val fix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79" y="5394960"/>
            <a:ext cx="1554480" cy="11887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599" y="5486400"/>
            <a:ext cx="1463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5
Diagnosis
Epoch-1 bug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32520" y="5394960"/>
            <a:ext cx="155448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5486400"/>
            <a:ext cx="1463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6
v10
Constant GRL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24160" y="5394960"/>
            <a:ext cx="1554480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69880" y="5486400"/>
            <a:ext cx="1463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7
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1 — Initial Baseline (cfix_5 / cfix_6)</a:t>
            </a:r>
          </a:p>
          <a:p>
            <a:pPr algn="l"/>
            <a:r>
              <a:rPr sz="1400" b="0">
                <a:solidFill>
                  <a:srgbClr val="BDD7EE"/>
                </a:solidFill>
              </a:rPr>
              <a:t>First cross-species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</a:rPr>
              <a:t>• Build k-mer co-occurrence GNN (k=4)</a:t>
            </a:r>
          </a:p>
          <a:p>
            <a:pPr algn="l"/>
            <a:r>
              <a:rPr sz="1300" b="0">
                <a:solidFill>
                  <a:srgbClr val="2E75B6"/>
                </a:solidFill>
              </a:rPr>
              <a:t>• Add biological node features (GC content, length…)</a:t>
            </a:r>
          </a:p>
          <a:p>
            <a:pPr algn="l"/>
            <a:r>
              <a:rPr sz="1300" b="0">
                <a:solidFill>
                  <a:srgbClr val="2E75B6"/>
                </a:solidFill>
              </a:rPr>
              <a:t>• Add Gradient Reversal Layer (GRL) for domain adaptation</a:t>
            </a:r>
          </a:p>
          <a:p>
            <a:pPr algn="l"/>
            <a:r>
              <a:rPr sz="1300" b="0">
                <a:solidFill>
                  <a:srgbClr val="2E75B6"/>
                </a:solidFill>
              </a:rPr>
              <a:t>• Test cross-species transfer for the first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063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Expected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3832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</a:rPr>
              <a:t>• Some cross-species transfer (MCC &gt; 0)</a:t>
            </a:r>
          </a:p>
          <a:p>
            <a:pPr algn="l"/>
            <a:r>
              <a:rPr sz="1300" b="0">
                <a:solidFill>
                  <a:srgbClr val="2E75B6"/>
                </a:solidFill>
              </a:rPr>
              <a:t>• Within-species performance as a sanity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2743200" cy="3886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572768"/>
            <a:ext cx="2670048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Setting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554480"/>
            <a:ext cx="1371600" cy="3886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97696" y="1572768"/>
            <a:ext cx="1298448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MCC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20" y="1554480"/>
            <a:ext cx="1371600" cy="3886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69296" y="1572768"/>
            <a:ext cx="1298448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AUC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943100"/>
            <a:ext cx="2743200" cy="38862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961388"/>
            <a:ext cx="2670048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Within-species: elegans → elegans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943100"/>
            <a:ext cx="1371600" cy="38862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1961388"/>
            <a:ext cx="1298448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0.870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32720" y="1943100"/>
            <a:ext cx="1371600" cy="38862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69296" y="1961388"/>
            <a:ext cx="1298448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0.963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331720"/>
            <a:ext cx="274320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2350008"/>
            <a:ext cx="2670048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Cross-species: all → saccharomyces (v5)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2331720"/>
            <a:ext cx="137160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97696" y="2350008"/>
            <a:ext cx="1298448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0.071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32720" y="2331720"/>
            <a:ext cx="137160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69296" y="2350008"/>
            <a:ext cx="1298448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0.551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720339"/>
            <a:ext cx="2743200" cy="38862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4496" y="2738627"/>
            <a:ext cx="2670048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Cross-species: all → saccharomyces (v6)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2720339"/>
            <a:ext cx="1371600" cy="38862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97696" y="2738627"/>
            <a:ext cx="1298448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0.128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2720" y="2720339"/>
            <a:ext cx="1371600" cy="38862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69296" y="2738627"/>
            <a:ext cx="1298448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0.593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200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55A11"/>
                </a:solidFill>
              </a:rPr>
              <a:t>Key Takeaway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52044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</a:rPr>
              <a:t>• Within-species MCC = 0.87 — architecture can learn essentiality ✓</a:t>
            </a:r>
          </a:p>
          <a:p>
            <a:pPr algn="l"/>
            <a:r>
              <a:rPr sz="1300" b="0">
                <a:solidFill>
                  <a:srgbClr val="2E75B6"/>
                </a:solidFill>
              </a:rPr>
              <a:t>• Cross-species MCC ≈ 0.07–0.13 — transfer is hard but non-zero</a:t>
            </a:r>
          </a:p>
          <a:p>
            <a:pPr algn="l"/>
            <a:r>
              <a:rPr sz="1300" b="0">
                <a:solidFill>
                  <a:srgbClr val="2E75B6"/>
                </a:solidFill>
              </a:rPr>
              <a:t>• Large gap between within-species and cross-species performance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  confirms the domain shift challenge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2 — Full LOO Evaluation: v7 &amp; v8</a:t>
            </a:r>
          </a:p>
          <a:p>
            <a:pPr algn="l"/>
            <a:r>
              <a:rPr sz="1400" b="0">
                <a:solidFill>
                  <a:srgbClr val="BDD7EE"/>
                </a:solidFill>
              </a:rPr>
              <a:t>Proxy-val early stopping — training on 7 species, testing on 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</a:rPr>
              <a:t>• Full 8-species LOO evaluation (each species held out once)</a:t>
            </a:r>
          </a:p>
          <a:p>
            <a:pPr algn="l"/>
            <a:r>
              <a:rPr sz="1300" b="0">
                <a:solidFill>
                  <a:srgbClr val="2E75B6"/>
                </a:solidFill>
              </a:rPr>
              <a:t>• Validation set drawn from training species (proxy-val)</a:t>
            </a:r>
          </a:p>
          <a:p>
            <a:pPr algn="l"/>
            <a:r>
              <a:rPr sz="1300" b="0">
                <a:solidFill>
                  <a:srgbClr val="2E75B6"/>
                </a:solidFill>
              </a:rPr>
              <a:t>• MCC-based early stopping  |  up to 200 epochs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564"/>
                </a:solidFill>
              </a:rPr>
              <a:t>v7 Results (proxy-val, MCC stopping)  —  Mean MCC = 0.119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34640"/>
            <a:ext cx="1737360" cy="386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" y="2852928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Species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834640"/>
            <a:ext cx="1097280" cy="386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9696" y="285292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Test MCC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834640"/>
            <a:ext cx="1097280" cy="386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6976" y="285292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Test AUC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834640"/>
            <a:ext cx="1463040" cy="386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6" y="2852928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Best Epoch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20720"/>
            <a:ext cx="173736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3239008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arabidopsis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322072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39696" y="323900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0.191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322072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36976" y="323900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0.595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220720"/>
            <a:ext cx="146304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4256" y="3239008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190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06800"/>
            <a:ext cx="173736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" y="3625088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bacillus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360680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39696" y="362508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0.109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60680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36976" y="362508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0.599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3606800"/>
            <a:ext cx="146304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34256" y="3625088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189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992880"/>
            <a:ext cx="173736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" y="4011168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elegans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399288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39696" y="401116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0.098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399288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36976" y="401116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0.651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3992880"/>
            <a:ext cx="146304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34256" y="4011168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199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378960"/>
            <a:ext cx="173736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336" y="4397247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maripaludis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03120" y="437896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39696" y="4397247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0.088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437896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36976" y="4397247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0.547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97680" y="4378960"/>
            <a:ext cx="146304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34256" y="4397247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183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765040"/>
            <a:ext cx="173736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2336" y="4783328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melanogaster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03120" y="476504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39696" y="478332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0.098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0" y="476504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36976" y="478332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0.627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97680" y="4765040"/>
            <a:ext cx="146304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34256" y="4783328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188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151120"/>
            <a:ext cx="173736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2336" y="5169407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musculus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03120" y="515112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39696" y="5169407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0.143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0" y="515112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36976" y="5169407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0.618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97680" y="5151120"/>
            <a:ext cx="146304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34256" y="5169407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24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5537200"/>
            <a:ext cx="173736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2336" y="5555487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saccharomyces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03120" y="553720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39696" y="5555487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0.058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0" y="553720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36976" y="5555487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0.540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97680" y="5537200"/>
            <a:ext cx="146304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34256" y="5555487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188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5923280"/>
            <a:ext cx="173736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2336" y="5941568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sapiens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103120" y="592328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139696" y="594156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0.166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00400" y="592328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36976" y="594156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0.668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97680" y="5923280"/>
            <a:ext cx="146304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334256" y="5941568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186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43600" y="246888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564"/>
                </a:solidFill>
              </a:rPr>
              <a:t>v8 Results (proxy-val)  —  Mean MCC = 0.116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0" y="2834640"/>
            <a:ext cx="1737360" cy="386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80176" y="2852928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Species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80960" y="2834640"/>
            <a:ext cx="1097280" cy="386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717536" y="285292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Test MCC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778240" y="2834640"/>
            <a:ext cx="1097280" cy="386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814815" y="285292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Test AUC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875519" y="2834640"/>
            <a:ext cx="1463040" cy="386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912095" y="2852928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Best Epoch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0" y="3220720"/>
            <a:ext cx="173736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980176" y="3239008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arabidopsis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80960" y="322072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717536" y="323900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0.137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778240" y="322072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814815" y="323900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0.562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875519" y="3220720"/>
            <a:ext cx="146304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912095" y="3239008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177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0" y="3606800"/>
            <a:ext cx="173736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980176" y="3625088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bacillus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680960" y="360680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717536" y="362508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0.125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360680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814815" y="362508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0.624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875519" y="3606800"/>
            <a:ext cx="146304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912095" y="3625088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196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943600" y="3992880"/>
            <a:ext cx="173736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980176" y="4011168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elegans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680960" y="399288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717536" y="401116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0.085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778240" y="399288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814815" y="401116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0.652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875519" y="3992880"/>
            <a:ext cx="146304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912095" y="4011168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189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943600" y="4378960"/>
            <a:ext cx="173736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980176" y="4397247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maripaludis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680960" y="437896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717536" y="4397247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0.095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778240" y="437896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814815" y="4397247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0.554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875519" y="4378960"/>
            <a:ext cx="146304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912095" y="4397247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177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943600" y="4765040"/>
            <a:ext cx="173736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980176" y="4783328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melanogaster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680960" y="476504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717536" y="478332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0.082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778240" y="476504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814815" y="478332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0.606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875519" y="4765040"/>
            <a:ext cx="146304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912095" y="4783328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200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943600" y="5151120"/>
            <a:ext cx="173736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980176" y="5169407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musculus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680960" y="515112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717536" y="5169407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0.144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778240" y="515112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814815" y="5169407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0.617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875519" y="5151120"/>
            <a:ext cx="146304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912095" y="5169407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27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943600" y="5537200"/>
            <a:ext cx="173736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980176" y="5555487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saccharomyces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680960" y="553720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717536" y="5555487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0.085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778240" y="553720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814815" y="5555487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0.557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875519" y="5537200"/>
            <a:ext cx="146304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912095" y="5555487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197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943600" y="5923280"/>
            <a:ext cx="173736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980176" y="5941568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sapiens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680960" y="592328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717536" y="594156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0.180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778240" y="592328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814815" y="594156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0.675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875519" y="5923280"/>
            <a:ext cx="146304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912095" y="5941568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199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65760" y="6035040"/>
            <a:ext cx="11430000" cy="59436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02920" y="60807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 Val MCC at best epochs ≈ 0.65–0.70  vs  Test MCC ≈ 0.08–0.19  →  3–12× gap!  Most best epochs are ~180–200, meaning the model trains to near-completion on training-species 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3 — Diagnosing the Proxy-Val Problem</a:t>
            </a:r>
          </a:p>
          <a:p>
            <a:pPr algn="l"/>
            <a:r>
              <a:rPr sz="1400" b="0">
                <a:solidFill>
                  <a:srgbClr val="BDD7EE"/>
                </a:solidFill>
              </a:rPr>
              <a:t>Why is val MCC 3–12× higher than test MCC?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411480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Validation Set
(proxy-val)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Drawn from the same 7
training species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9164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55A11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280160"/>
            <a:ext cx="4114800" cy="1371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9240" y="13258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Early Stopping
(MCC on proxy-val)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78308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Stops when training-species
performance peaks (~ep 185)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69164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55A11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49840" y="1280160"/>
            <a:ext cx="1737360" cy="13716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95560" y="132588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 that
overfits
training species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926080"/>
            <a:ext cx="11430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</a:rPr>
              <a:t>▶ What actually happens:</a:t>
            </a:r>
          </a:p>
          <a:p>
            <a:pPr algn="l"/>
            <a:r>
              <a:rPr sz="1400" b="0">
                <a:solidFill>
                  <a:srgbClr val="2E75B6"/>
                </a:solidFill>
              </a:rPr>
              <a:t>• The validation set is from the 7 training species → val MCC reflects training-species performance.</a:t>
            </a:r>
          </a:p>
          <a:p>
            <a:pPr algn="l"/>
            <a:r>
              <a:rPr sz="1400" b="0">
                <a:solidFill>
                  <a:srgbClr val="2E75B6"/>
                </a:solidFill>
              </a:rPr>
              <a:t>• Model keeps improving on training species → val MCC keeps rising → training runs to epoch ~185.</a:t>
            </a:r>
          </a:p>
          <a:p>
            <a:pPr algn="l"/>
            <a:r>
              <a:rPr sz="1400" b="0">
                <a:solidFill>
                  <a:srgbClr val="2E75B6"/>
                </a:solidFill>
              </a:rPr>
              <a:t>• Meanwhile, generalisation to the held-out species peaks earlier and then degrades.</a:t>
            </a:r>
          </a:p>
          <a:p>
            <a:pPr algn="l"/>
            <a:r>
              <a:rPr sz="1400" b="0">
                <a:solidFill>
                  <a:srgbClr val="2E75B6"/>
                </a:solidFill>
              </a:rPr>
              <a:t>• Result: we always pick the WORST model for cross-species transfer.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000000"/>
                </a:solidFill>
              </a:rPr>
              <a:t>▶ The fix:  use data from the held-out species itself as validation during training.</a:t>
            </a:r>
          </a:p>
          <a:p>
            <a:pPr algn="l"/>
            <a:r>
              <a:rPr sz="1400" b="0">
                <a:solidFill>
                  <a:srgbClr val="2E75B6"/>
                </a:solidFill>
              </a:rPr>
              <a:t>• Reserve 10% or 20% of the test species before training begins.</a:t>
            </a:r>
          </a:p>
          <a:p>
            <a:pPr algn="l"/>
            <a:r>
              <a:rPr sz="1400" b="0">
                <a:solidFill>
                  <a:srgbClr val="2E75B6"/>
                </a:solidFill>
              </a:rPr>
              <a:t>• Val MCC will now track cross-species generalisation — stopping will be meaningful.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4 — v9: LOO-Val Fix</a:t>
            </a:r>
          </a:p>
          <a:p>
            <a:pPr algn="l"/>
            <a:r>
              <a:rPr sz="1400" b="0">
                <a:solidFill>
                  <a:srgbClr val="BDD7EE"/>
                </a:solidFill>
              </a:rPr>
              <a:t>Validation from the held-out species itself (10% and 20%)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Change made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</a:rPr>
              <a:t>• Reserve 10% (lv10) or 20% (lv20) of test species as stratified val set</a:t>
            </a:r>
          </a:p>
          <a:p>
            <a:pPr algn="l"/>
            <a:r>
              <a:rPr sz="1300" b="0">
                <a:solidFill>
                  <a:srgbClr val="2E75B6"/>
                </a:solidFill>
              </a:rPr>
              <a:t>• Early stopping and model selection now based on cross-species generalisation signal</a:t>
            </a:r>
          </a:p>
          <a:p>
            <a:pPr algn="l"/>
            <a:r>
              <a:rPr sz="1300" b="0">
                <a:solidFill>
                  <a:srgbClr val="2E75B6"/>
                </a:solidFill>
              </a:rPr>
              <a:t>• MCC-based stopping  |  patience =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8644"/>
                </a:solidFill>
              </a:rPr>
              <a:t>v9 lv20 (20% val)  —  Mean MCC = 0.174  (+46% vs v7)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34640"/>
            <a:ext cx="1737360" cy="386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" y="2852928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Species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834640"/>
            <a:ext cx="1097280" cy="386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9696" y="285292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Test MCC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834640"/>
            <a:ext cx="1097280" cy="386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6976" y="285292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Test AUC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834640"/>
            <a:ext cx="1463040" cy="386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6" y="2852928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Best Epoch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20720"/>
            <a:ext cx="173736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3239008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arabidopsis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322072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39696" y="323900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0.083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322072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36976" y="323900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0.535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220720"/>
            <a:ext cx="146304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4256" y="3239008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46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06800"/>
            <a:ext cx="173736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" y="3625088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bacillus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360680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39696" y="362508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0.224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60680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36976" y="362508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0.670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3606800"/>
            <a:ext cx="146304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34256" y="3625088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992880"/>
            <a:ext cx="173736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" y="4011168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elegans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399288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39696" y="401116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0.196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399288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36976" y="401116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0.735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3992880"/>
            <a:ext cx="146304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34256" y="4011168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378960"/>
            <a:ext cx="173736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336" y="4397247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maripaludis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03120" y="437896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39696" y="4397247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0.252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437896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36976" y="4397247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0.660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97680" y="4378960"/>
            <a:ext cx="146304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34256" y="4397247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765040"/>
            <a:ext cx="173736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2336" y="4783328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melanogaster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03120" y="476504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39696" y="478332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0.133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0" y="476504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36976" y="478332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0.669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97680" y="4765040"/>
            <a:ext cx="146304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34256" y="4783328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151120"/>
            <a:ext cx="173736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2336" y="5169407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musculus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03120" y="515112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39696" y="5169407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0.166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0" y="515112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36976" y="5169407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0.632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97680" y="5151120"/>
            <a:ext cx="146304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34256" y="5169407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5537200"/>
            <a:ext cx="173736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2336" y="5555487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saccharomyces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03120" y="553720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39696" y="5555487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0.102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0" y="553720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36976" y="5555487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0.561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97680" y="5537200"/>
            <a:ext cx="146304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34256" y="5555487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5923280"/>
            <a:ext cx="173736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2336" y="5941568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sapiens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103120" y="592328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139696" y="594156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0.234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00400" y="592328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36976" y="594156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0.721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97680" y="5923280"/>
            <a:ext cx="146304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334256" y="5941568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43600" y="246888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8644"/>
                </a:solidFill>
              </a:rPr>
              <a:t>v9 lv10 (10% val)  —  Mean MCC = 0.169  (+42% vs v7)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0" y="2834640"/>
            <a:ext cx="1737360" cy="386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80176" y="2852928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Species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80960" y="2834640"/>
            <a:ext cx="1097280" cy="386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717536" y="285292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Test MCC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778240" y="2834640"/>
            <a:ext cx="1097280" cy="386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814815" y="285292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Test AUC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875519" y="2834640"/>
            <a:ext cx="1463040" cy="386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912095" y="2852928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Best Epoch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0" y="3220720"/>
            <a:ext cx="173736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980176" y="3239008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arabidopsis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80960" y="322072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717536" y="323900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0.101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778240" y="322072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814815" y="323900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0.562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875519" y="3220720"/>
            <a:ext cx="146304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912095" y="3239008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68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0" y="3606800"/>
            <a:ext cx="173736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980176" y="3625088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bacillus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680960" y="360680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717536" y="362508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0.189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360680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814815" y="362508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0.657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875519" y="3606800"/>
            <a:ext cx="146304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912095" y="3625088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8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943600" y="3992880"/>
            <a:ext cx="173736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980176" y="4011168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elegans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680960" y="399288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717536" y="401116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0.217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778240" y="399288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814815" y="401116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0.747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875519" y="3992880"/>
            <a:ext cx="146304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912095" y="4011168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6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943600" y="4378960"/>
            <a:ext cx="173736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980176" y="4397247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maripaludis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680960" y="437896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717536" y="4397247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0.248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778240" y="437896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814815" y="4397247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0.656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875519" y="4378960"/>
            <a:ext cx="146304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912095" y="4397247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943600" y="4765040"/>
            <a:ext cx="173736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980176" y="4783328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melanogaster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680960" y="476504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717536" y="478332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0.132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778240" y="476504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814815" y="478332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0.659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875519" y="4765040"/>
            <a:ext cx="146304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912095" y="4783328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943600" y="5151120"/>
            <a:ext cx="173736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980176" y="5169407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musculus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680960" y="515112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717536" y="5169407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0.146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778240" y="515112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814815" y="5169407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0.616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875519" y="5151120"/>
            <a:ext cx="146304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912095" y="5169407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38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943600" y="5537200"/>
            <a:ext cx="173736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980176" y="5555487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saccharomyces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680960" y="553720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717536" y="5555487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0.092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778240" y="5537200"/>
            <a:ext cx="109728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814815" y="5555487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0.562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875519" y="5537200"/>
            <a:ext cx="1463040" cy="3860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912095" y="5555487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40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943600" y="5923280"/>
            <a:ext cx="173736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980176" y="5941568"/>
            <a:ext cx="166420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sapiens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680960" y="592328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717536" y="594156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0.229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778240" y="5923280"/>
            <a:ext cx="109728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814815" y="5941568"/>
            <a:ext cx="1024127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0.723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875519" y="5923280"/>
            <a:ext cx="1463040" cy="38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912095" y="5941568"/>
            <a:ext cx="1389888" cy="34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65760" y="6035040"/>
            <a:ext cx="5394960" cy="59436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02920" y="60807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✓  Val-test gap closed  |  Mean MCC: 0.119 → 0.174  (+46%)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943600" y="6035040"/>
            <a:ext cx="5943600" cy="59436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035040" y="608076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 NEW PROBLEM: Best epoch = 1–8 for most species — model generalises best before training!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5 — Diagnosing the 'Best Epoch = 1' Problem</a:t>
            </a:r>
          </a:p>
          <a:p>
            <a:pPr algn="l"/>
            <a:r>
              <a:rPr sz="1400" b="0">
                <a:solidFill>
                  <a:srgbClr val="BDD7EE"/>
                </a:solidFill>
              </a:rPr>
              <a:t>Why does the model generalise best before training?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For 5–7 out of 8 species, the held-out species val AUC/MCC peaks at epoch 1 and then monotonically decreases throughout training. The model is not learning generalisable features — something is actively hurting cross-species transfer.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55A11"/>
                </a:solidFill>
              </a:rPr>
              <a:t>Root Cause — GRL Alpha Schedule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51760"/>
            <a:ext cx="7772400" cy="109728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697480"/>
            <a:ext cx="74980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3F00"/>
                </a:solidFill>
              </a:rPr>
              <a:t>grl_alpha  =  2 / (1 + exp(−10 × epoch / max_epochs)) − 1
Epoch 1 of 200:  grl_alpha ≈ 0.000    |    Epoch 10 of 200:  grl_alpha ≈ 0.222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840480"/>
            <a:ext cx="11430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</a:rPr>
              <a:t>▶ What this means:</a:t>
            </a:r>
          </a:p>
          <a:p>
            <a:pPr algn="l"/>
            <a:r>
              <a:rPr sz="1300" b="0">
                <a:solidFill>
                  <a:srgbClr val="2E75B6"/>
                </a:solidFill>
              </a:rPr>
              <a:t>• The adversarial (GRL) constraint is essentially zero for the first ~20 epochs.</a:t>
            </a:r>
          </a:p>
          <a:p>
            <a:pPr algn="l"/>
            <a:r>
              <a:rPr sz="1300" b="0">
                <a:solidFill>
                  <a:srgbClr val="2E75B6"/>
                </a:solidFill>
              </a:rPr>
              <a:t>• During those epochs the model freely learns species-specific features with no penalty.</a:t>
            </a:r>
          </a:p>
          <a:p>
            <a:pPr algn="l"/>
            <a:r>
              <a:rPr sz="1300" b="0">
                <a:solidFill>
                  <a:srgbClr val="2E75B6"/>
                </a:solidFill>
              </a:rPr>
              <a:t>• The more training occurs, the more species-specific the representations become.</a:t>
            </a:r>
          </a:p>
          <a:p>
            <a:pPr algn="l"/>
            <a:r>
              <a:rPr sz="1300" b="0">
                <a:solidFill>
                  <a:srgbClr val="2E75B6"/>
                </a:solidFill>
              </a:rPr>
              <a:t>• Val MCC on the held-out species falls after epoch 1 because the features stop being universal.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000000"/>
                </a:solidFill>
              </a:rPr>
              <a:t>▶ The fix for v10:</a:t>
            </a:r>
          </a:p>
          <a:p>
            <a:pPr algn="l"/>
            <a:r>
              <a:rPr sz="1300" b="0">
                <a:solidFill>
                  <a:srgbClr val="2E75B6"/>
                </a:solidFill>
              </a:rPr>
              <a:t>• Set  grl_alpha = 1.0  (constant) — adversarial constraint active from epoch 1.</a:t>
            </a:r>
          </a:p>
          <a:p>
            <a:pPr algn="l"/>
            <a:r>
              <a:rPr sz="1300" b="0">
                <a:solidFill>
                  <a:srgbClr val="2E75B6"/>
                </a:solidFill>
              </a:rPr>
              <a:t>• Test three lambda (adversarial loss weight) values: 0.5, 1.0, 2.0.</a:t>
            </a:r>
          </a:p>
          <a:p>
            <a:pPr algn="l"/>
            <a:r>
              <a:rPr sz="1300" b="0">
                <a:solidFill>
                  <a:srgbClr val="2E75B6"/>
                </a:solidFill>
              </a:rPr>
              <a:t>• Switch to AUC-based stopping (more stable than MCC on small val sets)  |  patience = 20.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989320"/>
            <a:ext cx="11430000" cy="6858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035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Decision rule:  Best epochs shift to 20+ AND MCC improves → GRL works.  Best epochs still 1–5 at λ=2.0 → GRL is structurally insufficient → Priority 2 (phylogeny-aware training).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6 — v10: Constant GRL  +  AUC Stopping</a:t>
            </a:r>
          </a:p>
          <a:p>
            <a:pPr algn="l"/>
            <a:r>
              <a:rPr sz="1400" b="0">
                <a:solidFill>
                  <a:srgbClr val="BDD7EE"/>
                </a:solidFill>
              </a:rPr>
              <a:t>λ = 0.5 (a05), 1.0 (a10), 2.0 (a20)  —  24 SLURM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564"/>
                </a:solidFill>
              </a:rPr>
              <a:t>Results across all three lambda variants (best epoch shown):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417320" cy="416051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1527048"/>
            <a:ext cx="134416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Species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783080" y="1508760"/>
            <a:ext cx="777240" cy="416051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9656" y="1527048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v9 MCC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508760"/>
            <a:ext cx="640080" cy="416051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96896" y="1527048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v9 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508760"/>
            <a:ext cx="777240" cy="416051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6976" y="1527048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a05 MCC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1508760"/>
            <a:ext cx="640080" cy="416051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14215" y="1527048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a05 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1508760"/>
            <a:ext cx="777240" cy="416051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4296" y="1527048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a10 MCC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59" y="1508760"/>
            <a:ext cx="640080" cy="416051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31536" y="1527048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a10 Ep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508760"/>
            <a:ext cx="777240" cy="416051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1616" y="1527048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a20 MCC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79" y="1508760"/>
            <a:ext cx="640080" cy="416051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8855" y="1527048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a20 Ep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1924812"/>
            <a:ext cx="141732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" y="1943100"/>
            <a:ext cx="134416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arabidopsis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83080" y="1924812"/>
            <a:ext cx="77724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19656" y="1943100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0.083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0" y="1924812"/>
            <a:ext cx="64008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96896" y="1943100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46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1924812"/>
            <a:ext cx="77724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36976" y="1943100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0.089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7639" y="1924812"/>
            <a:ext cx="64008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14215" y="1943100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7720" y="1924812"/>
            <a:ext cx="77724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54296" y="1943100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0.118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94959" y="1924812"/>
            <a:ext cx="64008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31536" y="1943100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1924812"/>
            <a:ext cx="77724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71616" y="1943100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0.057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12279" y="1924812"/>
            <a:ext cx="64008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48855" y="1943100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43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340863"/>
            <a:ext cx="141732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2336" y="2359151"/>
            <a:ext cx="134416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bacillus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83080" y="2340863"/>
            <a:ext cx="77724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19656" y="2359151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0.224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0" y="2340863"/>
            <a:ext cx="64008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96896" y="2359151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2340863"/>
            <a:ext cx="77724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36976" y="2359151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0.213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77639" y="2340863"/>
            <a:ext cx="64008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14215" y="2359151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17720" y="2340863"/>
            <a:ext cx="77724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54296" y="2359151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0.179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94959" y="2340863"/>
            <a:ext cx="64008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31536" y="2359151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5040" y="2340863"/>
            <a:ext cx="77724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71616" y="2359151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0.177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12279" y="2340863"/>
            <a:ext cx="64008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5" y="2359151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2756915"/>
            <a:ext cx="141732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2336" y="2775203"/>
            <a:ext cx="134416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elegans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783080" y="2756915"/>
            <a:ext cx="77724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19656" y="2775203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0.196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60320" y="2756915"/>
            <a:ext cx="64008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96896" y="2775203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0" y="2756915"/>
            <a:ext cx="77724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36976" y="2775203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0.191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77639" y="2756915"/>
            <a:ext cx="64008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014215" y="2775203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17720" y="2756915"/>
            <a:ext cx="77724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54296" y="2775203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0.193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394959" y="2756915"/>
            <a:ext cx="64008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31536" y="2775203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35040" y="2756915"/>
            <a:ext cx="77724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071616" y="2775203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0.189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12279" y="2756915"/>
            <a:ext cx="64008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48855" y="2775203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3172968"/>
            <a:ext cx="141732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02336" y="3191256"/>
            <a:ext cx="134416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maripaludis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783080" y="3172968"/>
            <a:ext cx="77724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819656" y="3191256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0.252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560320" y="3172968"/>
            <a:ext cx="64008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596896" y="3191256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00400" y="3172968"/>
            <a:ext cx="77724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36976" y="3191256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0.243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977639" y="3172968"/>
            <a:ext cx="64008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014215" y="3191256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617720" y="3172968"/>
            <a:ext cx="77724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654296" y="3191256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0.233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394959" y="3172968"/>
            <a:ext cx="64008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31536" y="3191256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035040" y="3172968"/>
            <a:ext cx="77724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071616" y="3191256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0.259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812279" y="3172968"/>
            <a:ext cx="64008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48855" y="3191256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65760" y="3589020"/>
            <a:ext cx="141732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02336" y="3607308"/>
            <a:ext cx="134416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melanogaster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783080" y="3589020"/>
            <a:ext cx="77724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819656" y="3607308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0.133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560320" y="3589020"/>
            <a:ext cx="64008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596896" y="3607308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4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0" y="3589020"/>
            <a:ext cx="77724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236976" y="3607308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0.127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977639" y="3589020"/>
            <a:ext cx="64008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014215" y="3607308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617720" y="3589020"/>
            <a:ext cx="77724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654296" y="3607308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0.155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394959" y="3589020"/>
            <a:ext cx="64008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431536" y="3607308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035040" y="3589020"/>
            <a:ext cx="77724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071616" y="3607308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0.144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812279" y="3589020"/>
            <a:ext cx="64008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848855" y="3607308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5760" y="4005071"/>
            <a:ext cx="141732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02336" y="4023359"/>
            <a:ext cx="134416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musculus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783080" y="4005071"/>
            <a:ext cx="77724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819656" y="4023359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0.166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560320" y="4005071"/>
            <a:ext cx="64008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596896" y="4023359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200400" y="4005071"/>
            <a:ext cx="77724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236976" y="4023359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0.169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977639" y="4005071"/>
            <a:ext cx="64008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014215" y="4023359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17720" y="4005071"/>
            <a:ext cx="77724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654296" y="4023359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0.166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394959" y="4005071"/>
            <a:ext cx="64008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431536" y="4023359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4005071"/>
            <a:ext cx="77724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071616" y="4023359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0.178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812279" y="4005071"/>
            <a:ext cx="64008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848855" y="4023359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65760" y="4421123"/>
            <a:ext cx="141732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02336" y="4439411"/>
            <a:ext cx="134416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saccharomyces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783080" y="4421123"/>
            <a:ext cx="77724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819656" y="4439411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0.102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560320" y="4421123"/>
            <a:ext cx="64008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596896" y="4439411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8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200400" y="4421123"/>
            <a:ext cx="77724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236976" y="4439411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0.123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977639" y="4421123"/>
            <a:ext cx="64008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014215" y="4439411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617720" y="4421123"/>
            <a:ext cx="77724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654296" y="4439411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0.125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394959" y="4421123"/>
            <a:ext cx="64008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431536" y="4439411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035040" y="4421123"/>
            <a:ext cx="77724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071616" y="4439411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0.126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812279" y="4421123"/>
            <a:ext cx="64008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848855" y="4439411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18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65760" y="4837175"/>
            <a:ext cx="141732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02336" y="4855463"/>
            <a:ext cx="134416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sapiens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783080" y="4837175"/>
            <a:ext cx="77724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819656" y="4855463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0.234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560320" y="4837175"/>
            <a:ext cx="64008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596896" y="4855463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2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200400" y="4837175"/>
            <a:ext cx="77724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236976" y="4855463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0.245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977639" y="4837175"/>
            <a:ext cx="64008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014215" y="4855463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617720" y="4837175"/>
            <a:ext cx="77724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654296" y="4855463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0.245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394959" y="4837175"/>
            <a:ext cx="64008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431536" y="4855463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035040" y="4837175"/>
            <a:ext cx="77724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071616" y="4855463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0.243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812279" y="4837175"/>
            <a:ext cx="640080" cy="416051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848855" y="4855463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5253227"/>
            <a:ext cx="141732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02336" y="5271515"/>
            <a:ext cx="134416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MEAN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783080" y="5253227"/>
            <a:ext cx="77724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819656" y="5271515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0.174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560320" y="5253227"/>
            <a:ext cx="64008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2596896" y="5271515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173" name="Rectangle 172"/>
          <p:cNvSpPr/>
          <p:nvPr/>
        </p:nvSpPr>
        <p:spPr>
          <a:xfrm>
            <a:off x="3200400" y="5253227"/>
            <a:ext cx="77724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236976" y="5271515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0.175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3977639" y="5253227"/>
            <a:ext cx="64008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4014215" y="5271515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177" name="Rectangle 176"/>
          <p:cNvSpPr/>
          <p:nvPr/>
        </p:nvSpPr>
        <p:spPr>
          <a:xfrm>
            <a:off x="4617720" y="5253227"/>
            <a:ext cx="77724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654296" y="5271515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0.164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394959" y="5253227"/>
            <a:ext cx="64008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5431536" y="5271515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181" name="Rectangle 180"/>
          <p:cNvSpPr/>
          <p:nvPr/>
        </p:nvSpPr>
        <p:spPr>
          <a:xfrm>
            <a:off x="6035040" y="5253227"/>
            <a:ext cx="77724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071616" y="5271515"/>
            <a:ext cx="704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0.172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812279" y="5253227"/>
            <a:ext cx="640080" cy="416051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848855" y="5271515"/>
            <a:ext cx="5669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185" name="Rectangle 184"/>
          <p:cNvSpPr/>
          <p:nvPr/>
        </p:nvSpPr>
        <p:spPr>
          <a:xfrm>
            <a:off x="365760" y="5806440"/>
            <a:ext cx="5394960" cy="82296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02920" y="5833872"/>
            <a:ext cx="521208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 5/8 species still stop at epoch 1 even at λ=2.0
Best epoch pattern essentially unchanged from v9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5943600" y="5806440"/>
            <a:ext cx="59436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035040" y="5833872"/>
            <a:ext cx="57607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✗  Constant GRL did NOT fix the problem.
MCC improvement is negligible (best: +0.1% at λ=0.5).
Decision rule → GRL is insufficient → Priority 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Overall Results — All Versions Compared</a:t>
            </a:r>
          </a:p>
          <a:p>
            <a:pPr algn="l"/>
            <a:r>
              <a:rPr sz="1400" b="0">
                <a:solidFill>
                  <a:srgbClr val="BDD7EE"/>
                </a:solidFill>
              </a:rPr>
              <a:t>Mean Test MCC across 8 species (LOO)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3716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1207008"/>
            <a:ext cx="12984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737360" y="1188720"/>
            <a:ext cx="50292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73936" y="1207008"/>
            <a:ext cx="49560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Key Change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188720"/>
            <a:ext cx="164592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03136" y="1207008"/>
            <a:ext cx="15727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Mean MCC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188720"/>
            <a:ext cx="33832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49056" y="1207008"/>
            <a:ext cx="33101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Δ vs v7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00200"/>
            <a:ext cx="1371600" cy="4114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1618488"/>
            <a:ext cx="12984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v7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1600200"/>
            <a:ext cx="5029200" cy="4114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73936" y="1618488"/>
            <a:ext cx="49560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Full LOO eval, proxy-val MCC stopping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1600200"/>
            <a:ext cx="1645920" cy="4114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1618488"/>
            <a:ext cx="15727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0.119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600200"/>
            <a:ext cx="3383280" cy="4114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1618488"/>
            <a:ext cx="33101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011680"/>
            <a:ext cx="1371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2029968"/>
            <a:ext cx="12984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v8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2011680"/>
            <a:ext cx="5029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73936" y="2029968"/>
            <a:ext cx="49560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Same setup, more epochs (200)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201168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2029968"/>
            <a:ext cx="15727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2011680"/>
            <a:ext cx="3383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49056" y="2029968"/>
            <a:ext cx="33101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≈ 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423160"/>
            <a:ext cx="1371600" cy="4114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" y="2441448"/>
            <a:ext cx="12984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v9 lv10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37360" y="2423160"/>
            <a:ext cx="5029200" cy="4114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73936" y="2441448"/>
            <a:ext cx="49560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LOO-val 10% held-out, MCC stopping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2423160"/>
            <a:ext cx="1645920" cy="4114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03136" y="2441448"/>
            <a:ext cx="15727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0.169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2423160"/>
            <a:ext cx="3383280" cy="4114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49056" y="2441448"/>
            <a:ext cx="33101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+42% 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834640"/>
            <a:ext cx="1371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2336" y="2852928"/>
            <a:ext cx="12984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v9 lv20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37360" y="2834640"/>
            <a:ext cx="5029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73936" y="2852928"/>
            <a:ext cx="49560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LOO-val 20% held-out, MCC stopping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66560" y="283464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03136" y="2852928"/>
            <a:ext cx="15727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0.174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2834640"/>
            <a:ext cx="3383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49056" y="2852928"/>
            <a:ext cx="33101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+46% 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246120"/>
            <a:ext cx="1371600" cy="4114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2336" y="3264408"/>
            <a:ext cx="12984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v10 a05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37360" y="3246120"/>
            <a:ext cx="5029200" cy="4114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773936" y="3264408"/>
            <a:ext cx="49560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Constant GRL λ=0.5, AUC stopping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66560" y="3246120"/>
            <a:ext cx="1645920" cy="4114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03136" y="3264408"/>
            <a:ext cx="15727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0.175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3246120"/>
            <a:ext cx="3383280" cy="4114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49056" y="3264408"/>
            <a:ext cx="33101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+47% (≈v9)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3657600"/>
            <a:ext cx="1371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2336" y="3675887"/>
            <a:ext cx="12984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v10 a10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37360" y="3657600"/>
            <a:ext cx="5029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773936" y="3675887"/>
            <a:ext cx="49560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Constant GRL λ=1.0, AUC stopping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66560" y="365760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03136" y="3675887"/>
            <a:ext cx="15727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0.164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12480" y="3657600"/>
            <a:ext cx="3383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49056" y="3675887"/>
            <a:ext cx="33101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+38%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4069080"/>
            <a:ext cx="1371600" cy="4114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2336" y="4087368"/>
            <a:ext cx="12984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v10 a20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37360" y="4069080"/>
            <a:ext cx="5029200" cy="4114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773936" y="4087368"/>
            <a:ext cx="49560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Constant GRL λ=2.0, AUC stopping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66560" y="4069080"/>
            <a:ext cx="1645920" cy="4114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03136" y="4087368"/>
            <a:ext cx="15727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0.172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12480" y="4069080"/>
            <a:ext cx="3383280" cy="411480"/>
          </a:xfrm>
          <a:prstGeom prst="rect">
            <a:avLst/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49056" y="4087368"/>
            <a:ext cx="33101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+44%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46634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564"/>
                </a:solidFill>
              </a:rPr>
              <a:t>Key lessons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029200"/>
            <a:ext cx="11430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75B6"/>
                </a:solidFill>
              </a:rPr>
              <a:t>• The single biggest gain came from fixing the validation strategy: proxy-val → LOO-val  (+46%)</a:t>
            </a:r>
          </a:p>
          <a:p>
            <a:pPr algn="l"/>
            <a:r>
              <a:rPr sz="1400" b="0">
                <a:solidFill>
                  <a:srgbClr val="2E75B6"/>
                </a:solidFill>
              </a:rPr>
              <a:t>• GRL in any form (scheduled or constant, any λ) did not improve cross-species MCC meaningfully</a:t>
            </a:r>
          </a:p>
          <a:p>
            <a:pPr algn="l"/>
            <a:r>
              <a:rPr sz="1400" b="0">
                <a:solidFill>
                  <a:srgbClr val="2E75B6"/>
                </a:solidFill>
              </a:rPr>
              <a:t>• The 'best epoch = 1' symptom persists — training actively hurts cross-species transfer</a:t>
            </a:r>
          </a:p>
          <a:p>
            <a:pPr algn="l"/>
            <a:r>
              <a:rPr sz="1400" b="0">
                <a:solidFill>
                  <a:srgbClr val="2E75B6"/>
                </a:solidFill>
              </a:rPr>
              <a:t>• Root cause is structural: phylogenetic distance between training and test species is too large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Conclusions &amp; Next Steps</a:t>
            </a:r>
          </a:p>
          <a:p>
            <a:pPr algn="l"/>
            <a:r>
              <a:rPr sz="1400" b="0">
                <a:solidFill>
                  <a:srgbClr val="BDD7EE"/>
                </a:solidFill>
              </a:rPr>
              <a:t>Where we are and where to go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8644"/>
                </a:solidFill>
              </a:rPr>
              <a:t>What worked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✓  Architecture learns essentiality (within-species MCC = 0.87)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✓  Fixing val strategy (LOO-val 20%) gave +46% MCC improvement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✓  Val-test gap closed — stopping is now meaningful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✓  Best model: v9 lv20 / v10 a05  |  Mean test MCC ≈ 0.174–0.175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55A11"/>
                </a:solidFill>
              </a:rPr>
              <a:t>What didn't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✗  Proxy-val stopping  (3–12× val-test gap)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✗  Scheduled GRL alpha  (near-zero for first 20 epochs)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✗  Constant GRL at any lambda  (best epochs still = 1)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✗  More training epochs alone  (v8 ≈ v7)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143000"/>
            <a:ext cx="5760720" cy="46634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2344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Priority 2 — Phylogeny-Aware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737360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</a:rPr>
              <a:t>Core insight: training on 8 phylogenetically diverse species forces the model to learn features that are universal across bacteria, archaea, plants, fungi, worms, flies, and mammals — but no such universal signal exists at the k-mer level.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8346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Proposed fix: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3200400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</a:rPr>
              <a:t>• For each held-out species, select only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phylogenetically close training species.</a:t>
            </a:r>
          </a:p>
          <a:p>
            <a:pPr algn="l"/>
            <a:r>
              <a:rPr sz="1200" b="0">
                <a:solidFill>
                  <a:srgbClr val="2E75B6"/>
                </a:solidFill>
              </a:rPr>
              <a:t>• E.g., hold out sapiens → train on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{musculus, elegans, melanogaster}</a:t>
            </a:r>
          </a:p>
          <a:p>
            <a:pPr algn="l"/>
            <a:r>
              <a:rPr sz="1200" b="0">
                <a:solidFill>
                  <a:srgbClr val="2E75B6"/>
                </a:solidFill>
              </a:rPr>
              <a:t>• E.g., hold out bacillus → train on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{maripaludis, saccharomyces}</a:t>
            </a:r>
          </a:p>
          <a:p>
            <a:pPr algn="l"/>
            <a:r>
              <a:rPr sz="1200" b="0">
                <a:solidFill>
                  <a:srgbClr val="2E75B6"/>
                </a:solidFill>
              </a:rPr>
              <a:t>• Reduces noise from unrelated species,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sharpens cross-species signal.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989320"/>
            <a:ext cx="1143000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035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Current best MCC = 0.174  |  Target: meaningful improvement via phylogeny-aware training  |  GRL approaches exhausted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